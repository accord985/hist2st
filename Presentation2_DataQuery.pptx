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60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F3BFCD-9299-060B-31D5-F1600E26E901}" v="258" dt="2026-09-29T20:52:45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79192"/>
  </p:normalViewPr>
  <p:slideViewPr>
    <p:cSldViewPr snapToGrid="0">
      <p:cViewPr varScale="1">
        <p:scale>
          <a:sx n="90" d="100"/>
          <a:sy n="90" d="100"/>
        </p:scale>
        <p:origin x="14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CC4BB-1BBE-4380-AAA8-7707880E6CA0}" type="datetimeFigureOut"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746FC-9DF2-4137-B1C0-4C67E70B637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998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GenBio-PathFM</a:t>
            </a:r>
            <a:r>
              <a:rPr lang="en-US"/>
              <a:t> is a </a:t>
            </a:r>
            <a:r>
              <a:rPr lang="en-US" b="1"/>
              <a:t>1.1-billion-parameter</a:t>
            </a:r>
            <a:r>
              <a:rPr lang="en-US"/>
              <a:t> vision foundation model specifically trained for histopathology. </a:t>
            </a:r>
            <a:r>
              <a:rPr lang="en-US" err="1"/>
              <a:t>GenBio</a:t>
            </a:r>
            <a:r>
              <a:rPr lang="en-US"/>
              <a:t> AI reports that it performs strongly on benchmarks including </a:t>
            </a:r>
            <a:r>
              <a:rPr lang="en-US" b="1"/>
              <a:t>HEST, THUNDER, and </a:t>
            </a:r>
            <a:r>
              <a:rPr lang="en-US" b="1" err="1"/>
              <a:t>PathoROB</a:t>
            </a:r>
            <a:r>
              <a:rPr lang="en-US"/>
              <a:t>, while being trained entirely on public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746FC-9DF2-4137-B1C0-4C67E70B637D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52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ccord985/Hist2S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Report Checkpoint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0420" y="3648336"/>
            <a:ext cx="9711160" cy="165576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Data Query</a:t>
            </a:r>
          </a:p>
          <a:p>
            <a:r>
              <a:rPr lang="en-US" dirty="0"/>
              <a:t>Spatial Gene Expression from Histology</a:t>
            </a:r>
          </a:p>
          <a:p>
            <a:pPr lvl="0"/>
            <a:r>
              <a:rPr lang="en-US" dirty="0" err="1"/>
              <a:t>Mobai</a:t>
            </a:r>
            <a:r>
              <a:rPr lang="en-US" dirty="0"/>
              <a:t> (James) Jiang, Junewoo (June) Koo, Bobby Wang, Jiayin (Moria) Li</a:t>
            </a:r>
          </a:p>
          <a:p>
            <a:pPr lvl="0"/>
            <a:r>
              <a:rPr lang="en-US" sz="1600" dirty="0"/>
              <a:t>GitHub: </a:t>
            </a:r>
            <a:r>
              <a:rPr lang="en-US" sz="1600" dirty="0">
                <a:hlinkClick r:id="rId2"/>
              </a:rPr>
              <a:t>https://github.com/Accord985/Hist2ST</a:t>
            </a:r>
            <a:endParaRPr 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DD9F2-1C0E-E22B-1570-43B8F135F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project in one sentence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9B56D-6AD1-0786-1C43-BBFD63971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Can what tissue looks like under a microscope predict which genes are active at each spot?</a:t>
            </a:r>
            <a:endParaRPr lang="en-US"/>
          </a:p>
          <a:p>
            <a:r>
              <a:rPr sz="2400"/>
              <a:t>Input: a small H&amp;E image patch at one spot</a:t>
            </a:r>
          </a:p>
          <a:p>
            <a:r>
              <a:rPr sz="2400"/>
              <a:t>Output: how much each gene is expressed at that spot</a:t>
            </a:r>
          </a:p>
        </p:txBody>
      </p:sp>
    </p:spTree>
    <p:extLst>
      <p:ext uri="{BB962C8B-B14F-4D97-AF65-F5344CB8AC3E}">
        <p14:creationId xmlns:p14="http://schemas.microsoft.com/office/powerpoint/2010/main" val="3398883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5E5A-19AD-4778-8080-847B774A2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spot?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B15AC-8208-01E4-FD84-FC90798EA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737360"/>
            <a:ext cx="5760720" cy="4480560"/>
          </a:xfrm>
        </p:spPr>
        <p:txBody>
          <a:bodyPr/>
          <a:lstStyle/>
          <a:p>
            <a:r>
              <a:rPr sz="2000"/>
              <a:t>Spatial transcriptomics (10x Visium)</a:t>
            </a:r>
            <a:endParaRPr lang="en-US"/>
          </a:p>
          <a:p>
            <a:pPr lvl="1"/>
            <a:r>
              <a:rPr sz="1800"/>
              <a:t>A thin slice of tissue is placed on a special glass slide</a:t>
            </a:r>
          </a:p>
          <a:p>
            <a:pPr lvl="1"/>
            <a:r>
              <a:rPr sz="1800"/>
              <a:t>The slide has a grid of thousands of tiny spots (~55 µm, about 1–10 cells)</a:t>
            </a:r>
          </a:p>
          <a:p>
            <a:pPr lvl="1"/>
            <a:r>
              <a:rPr sz="1800"/>
              <a:t>Each spot catches the RNA from the cells right above it and tags it with the spot's barcode</a:t>
            </a:r>
          </a:p>
          <a:p>
            <a:pPr lvl="1"/>
            <a:r>
              <a:rPr sz="1800"/>
              <a:t>The same slice is stained with H&amp;E and photographed</a:t>
            </a:r>
          </a:p>
        </p:txBody>
      </p:sp>
      <p:pic>
        <p:nvPicPr>
          <p:cNvPr id="4" name="Picture 3" descr="spot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37360"/>
            <a:ext cx="4754880" cy="397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19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Barcode = the spot's address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463040"/>
            <a:ext cx="10515600" cy="2011680"/>
          </a:xfrm>
        </p:spPr>
        <p:txBody>
          <a:bodyPr/>
          <a:lstStyle/>
          <a:p>
            <a:r>
              <a:rPr sz="1800"/>
              <a:t>Made by the lab, not the cell: DNA “catchers” are pre-printed on the slide</a:t>
            </a:r>
          </a:p>
          <a:p>
            <a:r>
              <a:rPr sz="1800"/>
              <a:t>All catchers in one spot share one barcode (~16 letters of A, T, G, C)</a:t>
            </a:r>
          </a:p>
          <a:p>
            <a:r>
              <a:rPr sz="1800"/>
              <a:t>RNA falls onto a catcher → its DNA copy carries that barcode</a:t>
            </a:r>
          </a:p>
          <a:p>
            <a:r>
              <a:rPr sz="1800"/>
              <a:t>After sequencing, the barcode tells us which spot the RNA came from</a:t>
            </a:r>
          </a:p>
        </p:txBody>
      </p:sp>
      <p:pic>
        <p:nvPicPr>
          <p:cNvPr id="4" name="Picture 3" descr="bar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520440"/>
            <a:ext cx="8568578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spot = a mix of cells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5212080"/>
            <a:ext cx="10515600" cy="914400"/>
          </a:xfrm>
        </p:spPr>
        <p:txBody>
          <a:bodyPr/>
          <a:lstStyle/>
          <a:p>
            <a:r>
              <a:rPr sz="2000"/>
              <a:t>The “true answer” we predict is a blurry average of several cells, not one clean cell</a:t>
            </a:r>
          </a:p>
        </p:txBody>
      </p:sp>
      <p:pic>
        <p:nvPicPr>
          <p:cNvPr id="4" name="Picture 3" descr="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00200"/>
            <a:ext cx="10515600" cy="24241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spot gives us two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A picture: the H&amp;E patch around that spot (224 × 224 pixels)</a:t>
            </a:r>
          </a:p>
          <a:p>
            <a:r>
              <a:rPr sz="2200"/>
              <a:t>A list of numbers: how much of each gene’s RNA was caught there</a:t>
            </a:r>
          </a:p>
          <a:p>
            <a:r>
              <a:rPr sz="2200"/>
              <a:t>Like a satellite photo of a block + the weather station on that block</a:t>
            </a:r>
          </a:p>
          <a:p>
            <a:pPr lvl="1"/>
            <a:r>
              <a:rPr sz="2000"/>
              <a:t>Can we guess the station’s reading from the photo alone?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data: HEST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Made by the Mahmood Lab (Harvard Medical School / Mass General Brigham)</a:t>
            </a:r>
          </a:p>
          <a:p>
            <a:r>
              <a:rPr sz="2000"/>
              <a:t>HEST-1k (dataset): 1,276 samples of paired H&amp;E images and spot-level gene expression, in one standard format</a:t>
            </a:r>
          </a:p>
          <a:p>
            <a:r>
              <a:rPr sz="2000"/>
              <a:t>HEST-Benchmark (test): which pretrained model gives the best embeddings?</a:t>
            </a:r>
          </a:p>
          <a:p>
            <a:pPr lvl="1"/>
            <a:r>
              <a:rPr sz="1800"/>
              <a:t>Embedding → PCA → ridge regression</a:t>
            </a:r>
          </a:p>
          <a:p>
            <a:pPr lvl="1"/>
            <a:r>
              <a:rPr sz="1800"/>
              <a:t>Scores (Pearson r): about 0.2–0.67 by cancer type, ~0.42 on average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554480"/>
            <a:ext cx="10515600" cy="3108960"/>
          </a:xfrm>
        </p:spPr>
        <p:txBody>
          <a:bodyPr/>
          <a:lstStyle/>
          <a:p>
            <a:r>
              <a:rPr sz="2000"/>
              <a:t>Hosted on Hugging Face: huggingface.co/datasets/MahmoodLab/hest (free, but gated)</a:t>
            </a:r>
          </a:p>
          <a:p>
            <a:pPr lvl="1"/>
            <a:r>
              <a:rPr sz="1800"/>
              <a:t>1. Request access: log in and accept the dataset’s terms</a:t>
            </a:r>
          </a:p>
          <a:p>
            <a:pPr lvl="1"/>
            <a:r>
              <a:rPr sz="1800"/>
              <a:t>2. Make a read-only token and log in with it</a:t>
            </a:r>
          </a:p>
          <a:p>
            <a:pPr lvl="1"/>
            <a:r>
              <a:rPr sz="1800"/>
              <a:t>3. Download only one sample’s small files, not the multi-GB whole-slide images</a:t>
            </a:r>
          </a:p>
          <a:p>
            <a:r>
              <a:rPr sz="2000"/>
              <a:t>Full notebook: github.com/Accord985/Hist2ST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4846320"/>
            <a:ext cx="1051560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>
                <a:solidFill>
                  <a:srgbClr val="111111"/>
                </a:solidFill>
                <a:latin typeface="Courier New"/>
              </a:rPr>
              <a:t>snapshot_download(repo_id="MahmoodLab/hest", repo_type="dataset",</a:t>
            </a:r>
          </a:p>
          <a:p>
            <a:pPr algn="l"/>
            <a:r>
              <a:rPr sz="1600">
                <a:solidFill>
                  <a:srgbClr val="111111"/>
                </a:solidFill>
                <a:latin typeface="Courier New"/>
              </a:rPr>
              <a:t>    allow_patterns=["patches/*TENX95*", "st/*TENX95*", ...])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in the download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64592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Folder / file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What’s inside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Used for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wsis/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Full whole-slide H&amp;E image (multi-GB)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Rarely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patches/ (.h5)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224×224 patch for each spot + its barcode and position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Model input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st/ (.h5ad)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Gene table: spots × genes, with each spot’s barcode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Target (true answer)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thumbnails/, spatial_plots/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Small preview pictures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Just for looking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HEST_v1_1_0.csv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One row per sample: organ, species, technology, cancer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Choosing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111"/>
                </a:solidFill>
              </a:rPr>
              <a:t>The barcode links them: same spot ID in patches/ and st/ → picture matched to its gene values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sample: TENX95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Human breast tissue, measured with Xenium</a:t>
            </a:r>
          </a:p>
          <a:p>
            <a:r>
              <a:rPr sz="2200"/>
              <a:t>1 tissue slide → 11,845 spots (one patch each) → 541 gene values per spot</a:t>
            </a:r>
          </a:p>
          <a:p>
            <a:r>
              <a:rPr sz="2200"/>
              <a:t>Xenium measures single RNA molecules, so HEST draws imaginary Visium-sized pseudo-spots</a:t>
            </a:r>
          </a:p>
          <a:p>
            <a:pPr lvl="1"/>
            <a:r>
              <a:rPr sz="2000"/>
              <a:t>Every sample then has the same format: one patch + one row of gene values per spot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gene data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4206240"/>
            <a:ext cx="10515600" cy="1828800"/>
          </a:xfrm>
        </p:spPr>
        <p:txBody>
          <a:bodyPr/>
          <a:lstStyle/>
          <a:p>
            <a:r>
              <a:rPr sz="2000"/>
              <a:t>One row = one spot · one column = one gene</a:t>
            </a:r>
          </a:p>
          <a:p>
            <a:r>
              <a:rPr sz="2000"/>
              <a:t>The barcode links each row to its image patch</a:t>
            </a:r>
          </a:p>
          <a:p>
            <a:r>
              <a:rPr sz="2000"/>
              <a:t>We predict a smaller chosen set (e.g. 50 of the 541 genes)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155448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Barcode (spot ID)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Gene 1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Gene 2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Gene 3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… Gene 541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spot_00001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spot_00002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spot_11845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3611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</a:rPr>
              <a:t>Example values for illustration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pixels to gene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4114800"/>
            <a:ext cx="10515600" cy="1828800"/>
          </a:xfrm>
        </p:spPr>
        <p:txBody>
          <a:bodyPr/>
          <a:lstStyle/>
          <a:p>
            <a:r>
              <a:rPr sz="2000"/>
              <a:t>Training input: the embedding of each patch (after PCA), a list of numbers that summarizes only the image</a:t>
            </a:r>
          </a:p>
          <a:p>
            <a:r>
              <a:rPr sz="2000"/>
              <a:t>Training target: the real measured gene values at that spot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45920"/>
            <a:ext cx="10515600" cy="20928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catalog (HEST_v1_1_0.csv)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4480560"/>
            <a:ext cx="10515600" cy="1645920"/>
          </a:xfrm>
        </p:spPr>
        <p:txBody>
          <a:bodyPr/>
          <a:lstStyle/>
          <a:p>
            <a:r>
              <a:rPr sz="1800"/>
              <a:t>One row = one tissue slide (1,276 in total)</a:t>
            </a:r>
          </a:p>
          <a:p>
            <a:r>
              <a:rPr sz="1800"/>
              <a:t>Columns: sample id, organ, species, technology, cancer type (oncotree code)</a:t>
            </a:r>
          </a:p>
          <a:p>
            <a:r>
              <a:rPr sz="1800"/>
              <a:t>Used to choose which samples to download</a:t>
            </a:r>
          </a:p>
        </p:txBody>
      </p:sp>
      <p:pic>
        <p:nvPicPr>
          <p:cNvPr id="4" name="Picture 3" descr="meta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554480"/>
            <a:ext cx="10515600" cy="2696061"/>
          </a:xfrm>
          <a:prstGeom prst="rect">
            <a:avLst/>
          </a:prstGeom>
          <a:ln w="12700">
            <a:solidFill>
              <a:srgbClr val="11111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Breast samples only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4480560"/>
            <a:ext cx="10515600" cy="1371600"/>
          </a:xfrm>
        </p:spPr>
        <p:txBody>
          <a:bodyPr/>
          <a:lstStyle/>
          <a:p>
            <a:r>
              <a:rPr sz="1800"/>
              <a:t>125 breast samples, TENX95 among them</a:t>
            </a:r>
          </a:p>
          <a:p>
            <a:r>
              <a:rPr sz="1800"/>
              <a:t>Mixed technologies (Xenium, Visium, …) → mix them or pick one?</a:t>
            </a:r>
          </a:p>
        </p:txBody>
      </p:sp>
      <p:pic>
        <p:nvPicPr>
          <p:cNvPr id="4" name="Picture 3" descr="breas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554480"/>
            <a:ext cx="10427983" cy="2743200"/>
          </a:xfrm>
          <a:prstGeom prst="rect">
            <a:avLst/>
          </a:prstGeom>
          <a:ln w="12700">
            <a:solidFill>
              <a:srgbClr val="11111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TENX95: the whole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0" y="1645920"/>
            <a:ext cx="4846320" cy="4389120"/>
          </a:xfrm>
        </p:spPr>
        <p:txBody>
          <a:bodyPr/>
          <a:lstStyle/>
          <a:p>
            <a:r>
              <a:rPr sz="1800"/>
              <a:t>Background: the H&amp;E image</a:t>
            </a:r>
          </a:p>
          <a:p>
            <a:r>
              <a:rPr sz="1800"/>
              <a:t>Dots: ~11,845 pseudo-spots</a:t>
            </a:r>
          </a:p>
          <a:p>
            <a:r>
              <a:rPr sz="1800"/>
              <a:t>spatial1 / spatial2: x and y position</a:t>
            </a:r>
          </a:p>
          <a:p>
            <a:r>
              <a:rPr sz="1800"/>
              <a:t>Color bar: total RNA counts per spot (0 to ~24,000)</a:t>
            </a:r>
          </a:p>
          <a:p>
            <a:r>
              <a:rPr sz="1800"/>
              <a:t>Black strip: spots with no tissue (~0 counts)</a:t>
            </a:r>
          </a:p>
        </p:txBody>
      </p:sp>
      <p:pic>
        <p:nvPicPr>
          <p:cNvPr id="4" name="Picture 3" descr="spatial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554480"/>
            <a:ext cx="5486400" cy="4095481"/>
          </a:xfrm>
          <a:prstGeom prst="rect">
            <a:avLst/>
          </a:prstGeom>
          <a:ln w="12700">
            <a:solidFill>
              <a:srgbClr val="11111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spot up close</a:t>
            </a:r>
          </a:p>
        </p:txBody>
      </p:sp>
      <p:pic>
        <p:nvPicPr>
          <p:cNvPr id="3" name="Picture 2" descr="patch_ex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088617" cy="4114800"/>
          </a:xfrm>
          <a:prstGeom prst="rect">
            <a:avLst/>
          </a:prstGeom>
          <a:ln w="12700">
            <a:solidFill>
              <a:srgbClr val="11111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41248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111"/>
                </a:solidFill>
              </a:rPr>
              <a:t>Left: the image patch (model input)   ·   Right: its top 8 genes (the answer to predict)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646A5-FE0D-2A7B-99A3-F216D1468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325FA-CDF4-6256-6949-666D73B63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are able to implement </a:t>
            </a:r>
            <a:r>
              <a:rPr lang="en-US" err="1"/>
              <a:t>GenBio</a:t>
            </a:r>
            <a:r>
              <a:rPr lang="en-US"/>
              <a:t> – </a:t>
            </a:r>
            <a:r>
              <a:rPr lang="en-US" err="1"/>
              <a:t>PathFM</a:t>
            </a:r>
          </a:p>
          <a:p>
            <a:endParaRPr lang="en-US"/>
          </a:p>
          <a:p>
            <a:r>
              <a:rPr lang="en-US"/>
              <a:t>The result is 1 a by 4608 list </a:t>
            </a:r>
          </a:p>
          <a:p>
            <a:endParaRPr lang="en-US"/>
          </a:p>
          <a:p>
            <a:r>
              <a:rPr lang="en-US"/>
              <a:t>Next step is a pipeline that mass produce embeddings</a:t>
            </a:r>
          </a:p>
        </p:txBody>
      </p:sp>
    </p:spTree>
    <p:extLst>
      <p:ext uri="{BB962C8B-B14F-4D97-AF65-F5344CB8AC3E}">
        <p14:creationId xmlns:p14="http://schemas.microsoft.com/office/powerpoint/2010/main" val="2245581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6D8FFF0-246A-EE0A-A506-E77E2FA5A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9601" y="692875"/>
            <a:ext cx="8851936" cy="491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360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995</Words>
  <Application>Microsoft Macintosh PowerPoint</Application>
  <PresentationFormat>Widescreen</PresentationFormat>
  <Paragraphs>122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Courier New</vt:lpstr>
      <vt:lpstr>Office Theme</vt:lpstr>
      <vt:lpstr>Project Report Checkpoint 2</vt:lpstr>
      <vt:lpstr>Our project in one sentence</vt:lpstr>
      <vt:lpstr>What is a spot?</vt:lpstr>
      <vt:lpstr>Barcode = the spot's address</vt:lpstr>
      <vt:lpstr>One spot = a mix of cells</vt:lpstr>
      <vt:lpstr>Every spot gives us two things</vt:lpstr>
      <vt:lpstr>Our data: HEST</vt:lpstr>
      <vt:lpstr>Getting the data</vt:lpstr>
      <vt:lpstr>What’s in the download</vt:lpstr>
      <vt:lpstr>One sample: TENX95</vt:lpstr>
      <vt:lpstr>What the gene data looks like</vt:lpstr>
      <vt:lpstr>From pixels to gene values</vt:lpstr>
      <vt:lpstr>Sample catalog (HEST_v1_1_0.csv)</vt:lpstr>
      <vt:lpstr>Breast samples only</vt:lpstr>
      <vt:lpstr>TENX95: the whole slide</vt:lpstr>
      <vt:lpstr>One spot up close</vt:lpstr>
      <vt:lpstr>Slide pre-processing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Junewoo Koo</cp:lastModifiedBy>
  <cp:revision>4</cp:revision>
  <dcterms:created xsi:type="dcterms:W3CDTF">2026-09-29T19:11:16Z</dcterms:created>
  <dcterms:modified xsi:type="dcterms:W3CDTF">2026-09-29T22:52:47Z</dcterms:modified>
</cp:coreProperties>
</file>